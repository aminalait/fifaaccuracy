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b9a0b07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b9a0b07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d5b15f0a3_5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d5b15f0a3_5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e4280837e8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e4280837e8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e4280837e8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e4280837e8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e4280837e8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e4280837e8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d251bb473_0_6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d251bb473_0_6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e4280837e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e4280837e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e4280837e8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e4280837e8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e4280837e8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e4280837e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e4280837e8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e4280837e8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e4280837e8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e4280837e8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e4280837e8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e4280837e8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cb9a0b074_1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cb9a0b074_1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353535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sofifa.com" TargetMode="External"/><Relationship Id="rId4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transfermarkt.de" TargetMode="External"/><Relationship Id="rId4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Accurate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FIFA Game’s Predictions Are?</a:t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By Kevin Bindig &amp; Amin Al-Ait</a:t>
            </a:r>
            <a:endParaRPr b="1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idx="4294967295" type="title"/>
          </p:nvPr>
        </p:nvSpPr>
        <p:spPr>
          <a:xfrm>
            <a:off x="535775" y="712150"/>
            <a:ext cx="5197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3600">
                <a:solidFill>
                  <a:schemeClr val="dk1"/>
                </a:solidFill>
              </a:rPr>
              <a:t>Myth</a:t>
            </a:r>
            <a:endParaRPr sz="3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3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</a:endParaRPr>
          </a:p>
        </p:txBody>
      </p:sp>
      <p:sp>
        <p:nvSpPr>
          <p:cNvPr id="79" name="Google Shape;79;p14"/>
          <p:cNvSpPr txBox="1"/>
          <p:nvPr>
            <p:ph idx="4294967295" type="title"/>
          </p:nvPr>
        </p:nvSpPr>
        <p:spPr>
          <a:xfrm>
            <a:off x="535775" y="1480150"/>
            <a:ext cx="5197200" cy="30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The video game FIFA is released on a yearly basis. It tracks a large amount of (but not all) players from 16 to 40 years old. 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And our myth says that FIFA game is a good indicator for the progression of young talents in real life world of Football.</a:t>
            </a:r>
            <a:endParaRPr b="0" sz="18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0" name="Google Shape;8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2450" y="1197675"/>
            <a:ext cx="2951550" cy="340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>
            <p:ph idx="4294967295" type="title"/>
          </p:nvPr>
        </p:nvSpPr>
        <p:spPr>
          <a:xfrm>
            <a:off x="535775" y="712150"/>
            <a:ext cx="5197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Myth</a:t>
            </a:r>
            <a:endParaRPr sz="3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</a:endParaRPr>
          </a:p>
        </p:txBody>
      </p:sp>
      <p:sp>
        <p:nvSpPr>
          <p:cNvPr id="86" name="Google Shape;86;p15"/>
          <p:cNvSpPr txBox="1"/>
          <p:nvPr>
            <p:ph idx="4294967295" type="title"/>
          </p:nvPr>
        </p:nvSpPr>
        <p:spPr>
          <a:xfrm>
            <a:off x="535775" y="1480150"/>
            <a:ext cx="5197200" cy="30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FIFA Career Mode: “lets you control your favourite team on and off the field." - Wikipedia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Aim: Players cross their predicted potential put by FIFA</a:t>
            </a:r>
            <a:endParaRPr b="0" sz="18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7" name="Google Shape;8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2450" y="1197675"/>
            <a:ext cx="2951550" cy="340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idx="4294967295" type="title"/>
          </p:nvPr>
        </p:nvSpPr>
        <p:spPr>
          <a:xfrm>
            <a:off x="535775" y="712150"/>
            <a:ext cx="5197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D</a:t>
            </a:r>
            <a:r>
              <a:rPr lang="en" sz="3600">
                <a:solidFill>
                  <a:schemeClr val="dk1"/>
                </a:solidFill>
              </a:rPr>
              <a:t>ata Basis</a:t>
            </a:r>
            <a:endParaRPr sz="3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</a:endParaRPr>
          </a:p>
        </p:txBody>
      </p:sp>
      <p:sp>
        <p:nvSpPr>
          <p:cNvPr id="93" name="Google Shape;93;p16"/>
          <p:cNvSpPr txBox="1"/>
          <p:nvPr>
            <p:ph idx="4294967295" type="title"/>
          </p:nvPr>
        </p:nvSpPr>
        <p:spPr>
          <a:xfrm>
            <a:off x="535775" y="1480150"/>
            <a:ext cx="5197200" cy="30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Overall</a:t>
            </a:r>
            <a:r>
              <a:rPr b="0" lang="en" sz="1800">
                <a:latin typeface="Lato"/>
                <a:ea typeface="Lato"/>
                <a:cs typeface="Lato"/>
                <a:sym typeface="Lato"/>
              </a:rPr>
              <a:t> rating and </a:t>
            </a:r>
            <a:r>
              <a:rPr lang="en" sz="1800">
                <a:latin typeface="Lato"/>
                <a:ea typeface="Lato"/>
                <a:cs typeface="Lato"/>
                <a:sym typeface="Lato"/>
              </a:rPr>
              <a:t>potential</a:t>
            </a:r>
            <a:r>
              <a:rPr b="0" lang="en" sz="1800">
                <a:latin typeface="Lato"/>
                <a:ea typeface="Lato"/>
                <a:cs typeface="Lato"/>
                <a:sym typeface="Lato"/>
              </a:rPr>
              <a:t> rating of players in the game FIFA. 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And track their rating progress in following FIFA games (07-21) from FIFA Game database website </a:t>
            </a:r>
            <a:r>
              <a:rPr b="0" lang="en" sz="18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sofifa.com</a:t>
            </a:r>
            <a:endParaRPr b="0" sz="1800" u="sng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We chose 360 players, age 19, for each FIFA year, sorted by maximum potential first.</a:t>
            </a:r>
            <a:endParaRPr b="0" sz="18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94" name="Google Shape;9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2450" y="1197675"/>
            <a:ext cx="2951550" cy="340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idx="4294967295" type="title"/>
          </p:nvPr>
        </p:nvSpPr>
        <p:spPr>
          <a:xfrm>
            <a:off x="535775" y="712150"/>
            <a:ext cx="5197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Data Basis</a:t>
            </a:r>
            <a:endParaRPr sz="3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</a:endParaRPr>
          </a:p>
        </p:txBody>
      </p:sp>
      <p:sp>
        <p:nvSpPr>
          <p:cNvPr id="100" name="Google Shape;100;p17"/>
          <p:cNvSpPr txBox="1"/>
          <p:nvPr>
            <p:ph idx="4294967295" type="title"/>
          </p:nvPr>
        </p:nvSpPr>
        <p:spPr>
          <a:xfrm>
            <a:off x="535775" y="1480150"/>
            <a:ext cx="5197200" cy="30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Further, we aim to compare and contrast the overall distribution of every player to real life performance data scraped from their respective profiles in </a:t>
            </a:r>
            <a:r>
              <a:rPr b="0" lang="en" sz="18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transfermarkt.de</a:t>
            </a:r>
            <a:r>
              <a:rPr b="0" lang="en" sz="1800">
                <a:latin typeface="Lato"/>
                <a:ea typeface="Lato"/>
                <a:cs typeface="Lato"/>
                <a:sym typeface="Lato"/>
              </a:rPr>
              <a:t>.</a:t>
            </a:r>
            <a:endParaRPr b="0" sz="18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1" name="Google Shape;10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2450" y="1197675"/>
            <a:ext cx="2951550" cy="340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>
            <p:ph type="title"/>
          </p:nvPr>
        </p:nvSpPr>
        <p:spPr>
          <a:xfrm>
            <a:off x="283099" y="712150"/>
            <a:ext cx="86223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Data</a:t>
            </a:r>
            <a:endParaRPr b="0"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b="0" lang="en" sz="2400"/>
              <a:t>The database: Name, Age, Club, Overall, Pot19. </a:t>
            </a:r>
            <a:endParaRPr b="0"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0" lang="en" sz="2400"/>
              <a:t>Methods to create data sets and graphs</a:t>
            </a:r>
            <a:endParaRPr b="0"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b="0" lang="en" sz="2400"/>
              <a:t>Scraping packages</a:t>
            </a:r>
            <a:endParaRPr b="0" sz="2400"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b="0" lang="en" sz="2400"/>
              <a:t>Rvest</a:t>
            </a:r>
            <a:endParaRPr b="0" sz="2400"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b="0" lang="en" sz="2400"/>
              <a:t>Rselenium</a:t>
            </a:r>
            <a:endParaRPr b="0"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b="0" lang="en" sz="2400"/>
              <a:t>Plotting packages</a:t>
            </a:r>
            <a:endParaRPr b="0" sz="2400"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b="0" lang="en" sz="2400"/>
              <a:t>Ggplot2</a:t>
            </a:r>
            <a:endParaRPr b="0" sz="24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0"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25"/>
            <a:ext cx="4254600" cy="4980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12" name="Google Shape;112;p19"/>
          <p:cNvPicPr preferRelativeResize="0"/>
          <p:nvPr/>
        </p:nvPicPr>
        <p:blipFill rotWithShape="1">
          <a:blip r:embed="rId4">
            <a:alphaModFix/>
          </a:blip>
          <a:srcRect b="10011" l="9244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9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Info: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4" name="Google Shape;114;p19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We decided to </a:t>
            </a: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exclusively</a:t>
            </a: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 choose players at the age of 19 of every year (07 - 21). 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Overall</a:t>
            </a:r>
            <a:br>
              <a:rPr lang="en" sz="1400">
                <a:latin typeface="Raleway"/>
                <a:ea typeface="Raleway"/>
                <a:cs typeface="Raleway"/>
                <a:sym typeface="Raleway"/>
              </a:rPr>
            </a:b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The overall score of the player out of 100. (100 is a perfect player)</a:t>
            </a: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Prime Overall</a:t>
            </a:r>
            <a:b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Highest overall achieved by the player throughout his career</a:t>
            </a:r>
            <a:endParaRPr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(Max) Potential</a:t>
            </a:r>
            <a:br>
              <a:rPr lang="en" sz="1400">
                <a:latin typeface="Raleway"/>
                <a:ea typeface="Raleway"/>
                <a:cs typeface="Raleway"/>
                <a:sym typeface="Raleway"/>
              </a:rPr>
            </a:b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The potential put by FIFA on a player at the age of 19.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Difference</a:t>
            </a:r>
            <a:br>
              <a:rPr lang="en" sz="1400">
                <a:latin typeface="Raleway"/>
                <a:ea typeface="Raleway"/>
                <a:cs typeface="Raleway"/>
                <a:sym typeface="Raleway"/>
              </a:rPr>
            </a:br>
            <a:r>
              <a:rPr lang="en" sz="1400">
                <a:latin typeface="Raleway"/>
                <a:ea typeface="Raleway"/>
                <a:cs typeface="Raleway"/>
                <a:sym typeface="Raleway"/>
              </a:rPr>
              <a:t>= 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Max Potential - Overall </a:t>
            </a:r>
            <a:endParaRPr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/>
          <p:nvPr>
            <p:ph type="title"/>
          </p:nvPr>
        </p:nvSpPr>
        <p:spPr>
          <a:xfrm>
            <a:off x="283099" y="712150"/>
            <a:ext cx="86223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b="0" sz="2400"/>
          </a:p>
        </p:txBody>
      </p:sp>
      <p:pic>
        <p:nvPicPr>
          <p:cNvPr id="120" name="Google Shape;12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50" y="74850"/>
            <a:ext cx="9025201" cy="499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/>
          <p:nvPr>
            <p:ph type="title"/>
          </p:nvPr>
        </p:nvSpPr>
        <p:spPr>
          <a:xfrm>
            <a:off x="283099" y="712150"/>
            <a:ext cx="86223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b="0" sz="2400"/>
          </a:p>
        </p:txBody>
      </p:sp>
      <p:pic>
        <p:nvPicPr>
          <p:cNvPr id="126" name="Google Shape;12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50" y="64150"/>
            <a:ext cx="8993101" cy="4983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283099" y="712150"/>
            <a:ext cx="86223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b="0" sz="2400"/>
          </a:p>
        </p:txBody>
      </p:sp>
      <p:pic>
        <p:nvPicPr>
          <p:cNvPr id="132" name="Google Shape;13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50" y="74850"/>
            <a:ext cx="9003800" cy="4993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>
            <p:ph type="title"/>
          </p:nvPr>
        </p:nvSpPr>
        <p:spPr>
          <a:xfrm>
            <a:off x="283099" y="712150"/>
            <a:ext cx="86223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b="0" sz="2400"/>
          </a:p>
        </p:txBody>
      </p:sp>
      <p:pic>
        <p:nvPicPr>
          <p:cNvPr id="138" name="Google Shape;13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550" y="85550"/>
            <a:ext cx="8971727" cy="491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 txBox="1"/>
          <p:nvPr>
            <p:ph type="title"/>
          </p:nvPr>
        </p:nvSpPr>
        <p:spPr>
          <a:xfrm>
            <a:off x="283099" y="712150"/>
            <a:ext cx="86223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Dramaturgy</a:t>
            </a:r>
            <a:endParaRPr b="0"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b="0" lang="en" sz="2400"/>
              <a:t>C</a:t>
            </a:r>
            <a:r>
              <a:rPr b="0" lang="en" sz="2400"/>
              <a:t>onclusion &amp; evaluation of the myth</a:t>
            </a:r>
            <a:endParaRPr b="0"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b="0" lang="en" sz="2400"/>
              <a:t>Out of 244 scraped players of year 07, only 27 players reach (and passed) their predicted potential rating. </a:t>
            </a:r>
            <a:endParaRPr b="0"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b="0" lang="en" sz="2400"/>
              <a:t>11% accuracy</a:t>
            </a:r>
            <a:endParaRPr b="0" sz="24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0"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49" name="Google Shape;149;p25"/>
          <p:cNvPicPr preferRelativeResize="0"/>
          <p:nvPr/>
        </p:nvPicPr>
        <p:blipFill rotWithShape="1">
          <a:blip r:embed="rId4">
            <a:alphaModFix/>
          </a:blip>
          <a:srcRect b="10011" l="9244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Our plans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1" name="Google Shape;151;p25"/>
          <p:cNvSpPr txBox="1"/>
          <p:nvPr>
            <p:ph idx="4294967295" type="body"/>
          </p:nvPr>
        </p:nvSpPr>
        <p:spPr>
          <a:xfrm>
            <a:off x="2855550" y="1377475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Build Bridge To Real World</a:t>
            </a:r>
            <a:br>
              <a:rPr lang="en" sz="1200">
                <a:latin typeface="Raleway"/>
                <a:ea typeface="Raleway"/>
                <a:cs typeface="Raleway"/>
                <a:sym typeface="Raleway"/>
              </a:rPr>
            </a:b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Every player will have stats from their real life performance(games played, minutes played, points per game, goals, assists), so we can better connect the facts.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◆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Scraping!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Bigger Dataset</a:t>
            </a:r>
            <a:br>
              <a:rPr lang="en" sz="1200">
                <a:latin typeface="Raleway"/>
                <a:ea typeface="Raleway"/>
                <a:cs typeface="Raleway"/>
                <a:sym typeface="Raleway"/>
              </a:rPr>
            </a:b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Increase player samples to 360 for each year from 07 to 21.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1" marL="914400" rtl="0" algn="l">
              <a:spcBef>
                <a:spcPts val="1000"/>
              </a:spcBef>
              <a:spcAft>
                <a:spcPts val="1000"/>
              </a:spcAft>
              <a:buSzPts val="1200"/>
              <a:buFont typeface="Raleway"/>
              <a:buChar char="◆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More scraping!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